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8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58952" y="5943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PREPARED FOR ZACHARY BROOKS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05156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5E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Resale Strategy for Historical Homes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21488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C9B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data-backed hypotheses on renovation, neighborhood, and build quality.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704556" y="3977640"/>
            <a:ext cx="777240" cy="777240"/>
          </a:xfrm>
          <a:prstGeom prst="ellipse">
            <a:avLst/>
          </a:prstGeom>
          <a:solidFill>
            <a:srgbClr val="8C3A2B"/>
          </a:solidFill>
          <a:ln/>
        </p:spPr>
      </p:sp>
      <p:pic>
        <p:nvPicPr>
          <p:cNvPr id="7" name="Image 0" descr="assets/icon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4411" y="4187495"/>
            <a:ext cx="357530" cy="35753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96112" y="4901184"/>
            <a:ext cx="239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5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Homes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73004" y="3977640"/>
            <a:ext cx="777240" cy="777240"/>
          </a:xfrm>
          <a:prstGeom prst="ellipse">
            <a:avLst/>
          </a:prstGeom>
          <a:solidFill>
            <a:srgbClr val="8C3A2B"/>
          </a:solidFill>
          <a:ln/>
        </p:spPr>
      </p:sp>
      <p:pic>
        <p:nvPicPr>
          <p:cNvPr id="10" name="Image 1" descr="assets/icons/mapp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2859" y="4187495"/>
            <a:ext cx="357530" cy="35753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4560" y="4901184"/>
            <a:ext cx="239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5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Neighborhoods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041452" y="3977640"/>
            <a:ext cx="777240" cy="777240"/>
          </a:xfrm>
          <a:prstGeom prst="ellipse">
            <a:avLst/>
          </a:prstGeom>
          <a:solidFill>
            <a:srgbClr val="8C3A2B"/>
          </a:solidFill>
          <a:ln/>
        </p:spPr>
      </p:sp>
      <p:pic>
        <p:nvPicPr>
          <p:cNvPr id="13" name="Image 2" descr="assets/icons/doll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306" y="4187495"/>
            <a:ext cx="357530" cy="35753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233008" y="4901184"/>
            <a:ext cx="239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5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Profit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9709899" y="3977640"/>
            <a:ext cx="777240" cy="777240"/>
          </a:xfrm>
          <a:prstGeom prst="ellipse">
            <a:avLst/>
          </a:prstGeom>
          <a:solidFill>
            <a:srgbClr val="8C3A2B"/>
          </a:solidFill>
          <a:ln/>
        </p:spPr>
      </p:sp>
      <p:pic>
        <p:nvPicPr>
          <p:cNvPr id="16" name="Image 3" descr="assets/icons/calend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9754" y="4187495"/>
            <a:ext cx="357530" cy="35753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01455" y="4901184"/>
            <a:ext cx="239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5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Timing</a:t>
            </a:r>
            <a:endParaRPr lang="en-US" sz="1250" dirty="0"/>
          </a:p>
        </p:txBody>
      </p:sp>
      <p:sp>
        <p:nvSpPr>
          <p:cNvPr id="18" name="Text 12"/>
          <p:cNvSpPr txBox="1"/>
          <p:nvPr/>
        </p:nvSpPr>
        <p:spPr>
          <a:xfrm>
            <a:off x="758952" y="6080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B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King County residential sales — 21,597 transactions, 21,420 unique houses.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58952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1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502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spc="100" kern="0" dirty="0">
                <a:solidFill>
                  <a:srgbClr val="8C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 REPEAT SALES ANALYZED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841248"/>
            <a:ext cx="10671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3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Resold Homes Never Fall Below Grade 5</a:t>
            </a:r>
            <a:endParaRPr lang="en-US" sz="2800" dirty="0"/>
          </a:p>
        </p:txBody>
      </p:sp>
      <p:pic>
        <p:nvPicPr>
          <p:cNvPr id="6" name="Image 0" descr="figures/deck_fig1_grade_flo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6735" y="1645920"/>
            <a:ext cx="5398226" cy="3977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5806440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of 176 resold houses fall below construction grade 5 — even though 28 lower-grade houses exist county-wide.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Zachary Brooks — Resale Strategy  |  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41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8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527048" y="10515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592928" y="1508760"/>
            <a:ext cx="1005840" cy="1005840"/>
          </a:xfrm>
          <a:prstGeom prst="ellipse">
            <a:avLst/>
          </a:prstGeom>
          <a:solidFill>
            <a:srgbClr val="8C3A2B"/>
          </a:solidFill>
          <a:ln/>
        </p:spPr>
      </p:sp>
      <p:pic>
        <p:nvPicPr>
          <p:cNvPr id="5" name="Image 0" descr="assets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4446" y="1770278"/>
            <a:ext cx="482803" cy="482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69848" y="28346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5E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Grade 5 as Your Acquisition Floor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1984248" y="4160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9B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grade 5, a property has no track record of ever finding a second buyer.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Zachary Brooks — Resale Strategy  |  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58952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2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502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spc="100" kern="0" dirty="0">
                <a:solidFill>
                  <a:srgbClr val="8C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743 RENOVATIONS ANALYZED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841248"/>
            <a:ext cx="10671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3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Renovation Pays Off — But Not Everywhere</a:t>
            </a:r>
            <a:endParaRPr lang="en-US" sz="2800" dirty="0"/>
          </a:p>
        </p:txBody>
      </p:sp>
      <p:pic>
        <p:nvPicPr>
          <p:cNvPr id="6" name="Image 0" descr="figures/deck_fig2_renovation_li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6735" y="1645920"/>
            <a:ext cx="5398226" cy="3977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5806440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Renovation lifts value 12–35% for 1940–1999 homes — but costs 5% on true pre-1940 stock.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Zachary Brooks — Resale Strategy  |  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41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8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527048" y="10515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592928" y="1508760"/>
            <a:ext cx="1005840" cy="1005840"/>
          </a:xfrm>
          <a:prstGeom prst="ellipse">
            <a:avLst/>
          </a:prstGeom>
          <a:solidFill>
            <a:srgbClr val="8C3A2B"/>
          </a:solidFill>
          <a:ln/>
        </p:spPr>
      </p:sp>
      <p:pic>
        <p:nvPicPr>
          <p:cNvPr id="5" name="Image 0" descr="assets/icons/to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4446" y="1770278"/>
            <a:ext cx="482803" cy="482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69848" y="28346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5E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Renovate Mid-Century, Preserve the Historical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1984248" y="4160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9B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Modernize 1940–1999 acquisitions before listing. On true pre-1940 homes, protect the original character instead.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Zachary Brooks — Resale Strategy  |  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58952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3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502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spc="100" kern="0" dirty="0">
                <a:solidFill>
                  <a:srgbClr val="8C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ZIP CODES COMPARED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841248"/>
            <a:ext cx="10671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3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Few Zip Codes Drive Most of the Resales</a:t>
            </a:r>
            <a:endParaRPr lang="en-US" sz="2800" dirty="0"/>
          </a:p>
        </p:txBody>
      </p:sp>
      <p:pic>
        <p:nvPicPr>
          <p:cNvPr id="6" name="Image 0" descr="figures/deck_fig3_zip_cluste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6735" y="1645920"/>
            <a:ext cx="5398226" cy="3977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5806440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10 of 70 zip codes account for 41% of every repeat sale in the county.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Zachary Brooks — Resale Strategy  |  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41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8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527048" y="10515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592928" y="1508760"/>
            <a:ext cx="1005840" cy="1005840"/>
          </a:xfrm>
          <a:prstGeom prst="ellipse">
            <a:avLst/>
          </a:prstGeom>
          <a:solidFill>
            <a:srgbClr val="8C3A2B"/>
          </a:solidFill>
          <a:ln/>
        </p:spPr>
      </p:sp>
      <p:pic>
        <p:nvPicPr>
          <p:cNvPr id="5" name="Image 0" descr="assets/icons/mapp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4446" y="1770278"/>
            <a:ext cx="482803" cy="482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69848" y="28346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5E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in the Most Liquid Zip Codes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1984248" y="4160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9B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98055, 98146, 98133, 98118, and 98006 resell 2–4x more often than the county average.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Zachary Brooks — Resale Strategy  |  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41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8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58952" y="594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601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E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Ideal Class of Units to Target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704556" y="2011680"/>
            <a:ext cx="777240" cy="777240"/>
          </a:xfrm>
          <a:prstGeom prst="ellipse">
            <a:avLst/>
          </a:prstGeom>
          <a:solidFill>
            <a:srgbClr val="8C3A2B"/>
          </a:solidFill>
          <a:ln/>
        </p:spPr>
      </p:sp>
      <p:pic>
        <p:nvPicPr>
          <p:cNvPr id="6" name="Image 0" descr="assets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4411" y="2221535"/>
            <a:ext cx="357530" cy="3575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96112" y="2935224"/>
            <a:ext cx="239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5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6+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3410712"/>
            <a:ext cx="2394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B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below the resale floor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73004" y="2011680"/>
            <a:ext cx="777240" cy="777240"/>
          </a:xfrm>
          <a:prstGeom prst="ellipse">
            <a:avLst/>
          </a:prstGeom>
          <a:solidFill>
            <a:srgbClr val="8C3A2B"/>
          </a:solidFill>
          <a:ln/>
        </p:spPr>
      </p:sp>
      <p:pic>
        <p:nvPicPr>
          <p:cNvPr id="10" name="Image 1" descr="assets/icons/calend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2859" y="2221535"/>
            <a:ext cx="357530" cy="35753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4560" y="2935224"/>
            <a:ext cx="239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5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1940–1999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3564560" y="3410712"/>
            <a:ext cx="2394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B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renovation pays off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7041452" y="2011680"/>
            <a:ext cx="777240" cy="777240"/>
          </a:xfrm>
          <a:prstGeom prst="ellipse">
            <a:avLst/>
          </a:prstGeom>
          <a:solidFill>
            <a:srgbClr val="8C3A2B"/>
          </a:solidFill>
          <a:ln/>
        </p:spPr>
      </p:sp>
      <p:pic>
        <p:nvPicPr>
          <p:cNvPr id="14" name="Image 2" descr="assets/icons/mapp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306" y="2221535"/>
            <a:ext cx="357530" cy="35753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233008" y="2935224"/>
            <a:ext cx="239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5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zip codes</a:t>
            </a:r>
            <a:endParaRPr lang="en-US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6233008" y="3410712"/>
            <a:ext cx="2394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B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98055, 98146, 98133, 98118, 98006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9709899" y="2011680"/>
            <a:ext cx="777240" cy="777240"/>
          </a:xfrm>
          <a:prstGeom prst="ellipse">
            <a:avLst/>
          </a:prstGeom>
          <a:solidFill>
            <a:srgbClr val="8C3A2B"/>
          </a:solidFill>
          <a:ln/>
        </p:spPr>
      </p:sp>
      <p:pic>
        <p:nvPicPr>
          <p:cNvPr id="18" name="Image 3" descr="assets/icons/too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9754" y="2221535"/>
            <a:ext cx="357530" cy="35753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901455" y="2935224"/>
            <a:ext cx="239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5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Renovated pre-listing</a:t>
            </a:r>
            <a:endParaRPr lang="en-US" sz="1350" dirty="0"/>
          </a:p>
        </p:txBody>
      </p:sp>
      <p:sp>
        <p:nvSpPr>
          <p:cNvPr id="20" name="Text 14"/>
          <p:cNvSpPr txBox="1"/>
          <p:nvPr/>
        </p:nvSpPr>
        <p:spPr>
          <a:xfrm>
            <a:off x="8901455" y="3410712"/>
            <a:ext cx="2394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B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vintage only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758952" y="4709160"/>
            <a:ext cx="10671048" cy="1143000"/>
          </a:xfrm>
          <a:prstGeom prst="roundRect">
            <a:avLst>
              <a:gd name="adj" fmla="val 8000"/>
            </a:avLst>
          </a:prstGeom>
          <a:solidFill>
            <a:srgbClr val="2F2018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1005840" y="4873752"/>
            <a:ext cx="10177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5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buy box: mid-century, well-built homes in proven-liquid neighborhoods, renovated before resale — true pre-1940 landmarks are a different play, held longer and left original.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Zachary Brooks — Resale Strategy  |  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2026-09-17T15:14:42Z</dcterms:created>
  <dcterms:modified xsi:type="dcterms:W3CDTF">2026-09-17T15:14:42Z</dcterms:modified>
</cp:coreProperties>
</file>